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0"/>
            <a:ext cx="12191695" cy="76325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17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2F4F7"/>
                </a:solidFill>
                <a:latin typeface="Arial"/>
              </a:rPr>
              <a:t>KRAKOPOLIS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57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6A3C"/>
                </a:solidFill>
                <a:latin typeface="Arial"/>
              </a:rPr>
              <a:t>Build the city.  Test the decision.  See the consequences.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Arial"/>
              </a:rPr>
              <a:t>Cities are complex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3AF"/>
                </a:solidFill>
                <a:latin typeface="Arial"/>
              </a:rPr>
              <a:t>People see one decision — not the chain of consequences.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NEW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MODEL 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+420 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≈10× highrise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MORE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local load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JUNCTION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overload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LONGER TRIPS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travel time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468880"/>
            <a:ext cx="1737360" cy="22860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9718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Arial"/>
              </a:rPr>
              <a:t>INFRA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schools · 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3AF"/>
                </a:solidFill>
                <a:latin typeface="Arial"/>
              </a:rPr>
              <a:t>Estate scenario = MODEL ESTIMATE from catalog units (1 highrise = +44). Not an official Kraków forecast.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2F4F7"/>
                </a:solidFill>
                <a:latin typeface="Arial"/>
              </a:rPr>
              <a:t>Turn urban decisions into experiments.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651760" cy="2560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4F7"/>
                </a:solidFill>
                <a:latin typeface="Arial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F"/>
                </a:solidFill>
                <a:latin typeface="Arial"/>
              </a:rPr>
              <a:t>Place a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651760" cy="2560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4F7"/>
                </a:solidFill>
                <a:latin typeface="Arial"/>
              </a:rPr>
              <a:t>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F"/>
                </a:solidFill>
                <a:latin typeface="Arial"/>
              </a:rPr>
              <a:t>Run the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651760" cy="2560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4F7"/>
                </a:solidFill>
                <a:latin typeface="Arial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F"/>
                </a:solidFill>
                <a:latin typeface="Arial"/>
              </a:rPr>
              <a:t>Read impacts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11680"/>
            <a:ext cx="2651760" cy="2560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4F7"/>
                </a:solidFill>
                <a:latin typeface="Arial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F"/>
                </a:solidFill>
                <a:latin typeface="Arial"/>
              </a:rPr>
              <a:t>Commit or 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Arial"/>
              </a:rPr>
              <a:t>Krakopolis: city-builder UX on real Kraków OSM — consequence engine underneath.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2F4F7"/>
                </a:solidFill>
                <a:latin typeface="Arial"/>
              </a:rPr>
              <a:t>Decision → Simulation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2F4F7"/>
                </a:solidFill>
                <a:latin typeface="Arial"/>
              </a:rPr>
              <a:t>→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1  Choose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2  Preview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3  Press Enter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4  Approve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5  Simulate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F4F7"/>
                </a:solidFill>
                <a:latin typeface="Arial"/>
              </a:rPr>
              <a:t>6  Observe</a:t>
            </a:r>
          </a:p>
        </p:txBody>
      </p:sp>
      <p:pic>
        <p:nvPicPr>
          <p:cNvPr id="5" name="Picture 4" descr="s4-bui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"/>
            <a:ext cx="6309360" cy="39499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2F4F7"/>
                </a:solidFill>
                <a:latin typeface="Arial"/>
              </a:rPr>
              <a:t>One decision.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2F4F7"/>
                </a:solidFill>
                <a:latin typeface="Arial"/>
              </a:rPr>
              <a:t>Visible consequences.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48840"/>
            <a:ext cx="2286000" cy="13716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6A3C"/>
                </a:solidFill>
                <a:latin typeface="Arial"/>
              </a:rPr>
              <a:t>+44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Arial"/>
              </a:rPr>
              <a:t>residents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4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48840"/>
            <a:ext cx="2286000" cy="13716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6A3C"/>
                </a:solidFill>
                <a:latin typeface="Arial"/>
              </a:rPr>
              <a:t>↑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Arial"/>
              </a:rPr>
              <a:t>local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54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SIMULATED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2286000" cy="13716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6A3C"/>
                </a:solidFill>
                <a:latin typeface="Arial"/>
              </a:rPr>
              <a:t>schools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Arial"/>
              </a:rPr>
              <a:t>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09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MODEL 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703320"/>
            <a:ext cx="2286000" cy="137160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6A3C"/>
                </a:solidFill>
                <a:latin typeface="Arial"/>
              </a:rPr>
              <a:t>9.8 mln zł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389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Arial"/>
              </a:rP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709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SIMULATED</a:t>
            </a:r>
          </a:p>
        </p:txBody>
      </p:sp>
      <p:pic>
        <p:nvPicPr>
          <p:cNvPr id="20" name="Picture 19" descr="s5-consequ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6217920" cy="3886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3AF"/>
                </a:solidFill>
                <a:latin typeface="Arial"/>
              </a:rPr>
              <a:t>Catalog example: Wysoki blok — labels are SIMULATED / MODEL ESTIMATE.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DISASTERS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Arial"/>
              </a:rPr>
              <a:t>Disasters are events, not animations.</a:t>
            </a:r>
          </a:p>
        </p:txBody>
      </p:sp>
      <p:pic>
        <p:nvPicPr>
          <p:cNvPr id="4" name="Picture 3" descr="s6-f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669280" cy="3549206"/>
          </a:xfrm>
          <a:prstGeom prst="rect">
            <a:avLst/>
          </a:prstGeom>
        </p:spPr>
      </p:pic>
      <p:pic>
        <p:nvPicPr>
          <p:cNvPr id="5" name="Picture 4" descr="s6-fl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669280" cy="35492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617720"/>
            <a:ext cx="5669280" cy="1417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4617720"/>
            <a:ext cx="5669280" cy="14173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A3C"/>
                </a:solidFill>
                <a:latin typeface="Arial"/>
              </a:rPr>
              <a:t>FIRE · POŻAR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rial"/>
              </a:rPr>
              <a:t>Exact click location · roads &amp; metrics shift · MODEL ESTIMATE for people in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A3C7"/>
                </a:solidFill>
                <a:latin typeface="Arial"/>
              </a:rPr>
              <a:t>FLOOD · POWÓDŹ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074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rial"/>
              </a:rPr>
              <a:t>Water starts at the chosen point · spreads · closes access · SIMULATED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WHAT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2F4F7"/>
                </a:solidFill>
                <a:latin typeface="Arial"/>
              </a:rPr>
              <a:t>What happens next?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1325880" cy="123444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rial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3AF"/>
                </a:solidFill>
                <a:latin typeface="Arial"/>
              </a:rPr>
              <a:t>Immediate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1325880" cy="123444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544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rial"/>
              </a:rPr>
              <a:t>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659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3AF"/>
                </a:solidFill>
                <a:latin typeface="Arial"/>
              </a:rPr>
              <a:t>Pressure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1325880" cy="123444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544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rial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3AF"/>
                </a:solidFill>
                <a:latin typeface="Arial"/>
              </a:rPr>
              <a:t>Alt.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1325880" cy="123444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659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3AF"/>
                </a:solidFill>
                <a:latin typeface="Arial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2F4F7"/>
                </a:solidFill>
                <a:latin typeface="Arial"/>
              </a:rPr>
              <a:t>Analysis layers: traffic, access, risk.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2F4F7"/>
                </a:solidFill>
                <a:latin typeface="Arial"/>
              </a:rPr>
              <a:t>All marked as szacunek / MODEL ESTIMATE.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6A3C"/>
                </a:solidFill>
                <a:latin typeface="Arial"/>
              </a:rPr>
              <a:t>What if we close a street?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E86A3C"/>
                </a:solidFill>
                <a:latin typeface="Arial"/>
              </a:rPr>
              <a:t>What if we build elsewhere?</a:t>
            </a:r>
          </a:p>
        </p:txBody>
      </p:sp>
      <p:pic>
        <p:nvPicPr>
          <p:cNvPr id="18" name="Picture 17" descr="s7-analy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65760"/>
            <a:ext cx="5669280" cy="3543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CITY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7"/>
                </a:solidFill>
                <a:latin typeface="Arial"/>
              </a:rPr>
              <a:t>Every decision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7"/>
                </a:solidFill>
                <a:latin typeface="Arial"/>
              </a:rPr>
              <a:t>leaves a trace.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14300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57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F4F7"/>
                </a:solidFill>
                <a:latin typeface="Arial"/>
              </a:rPr>
              <a:t>v1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828800"/>
            <a:ext cx="114300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57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F4F7"/>
                </a:solidFill>
                <a:latin typeface="Arial"/>
              </a:rPr>
              <a:t>v2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828800"/>
            <a:ext cx="114300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057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F4F7"/>
                </a:solidFill>
                <a:latin typeface="Arial"/>
              </a:rPr>
              <a:t>v3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28800"/>
            <a:ext cx="1143000" cy="960120"/>
          </a:xfrm>
          <a:prstGeom prst="rect">
            <a:avLst/>
          </a:prstGeom>
          <a:solidFill>
            <a:srgbClr val="2A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057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A3C"/>
                </a:solidFill>
                <a:latin typeface="Arial"/>
              </a:rPr>
              <a:t>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089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Compare versions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Restore earlier state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Undo / redo — history persists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AA3AF"/>
                </a:solidFill>
                <a:latin typeface="Arial"/>
              </a:rPr>
              <a:t>Persistent city state, not a one-shot viz.</a:t>
            </a:r>
          </a:p>
        </p:txBody>
      </p:sp>
      <p:pic>
        <p:nvPicPr>
          <p:cNvPr id="13" name="Picture 12" descr="s8-hi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65760"/>
            <a:ext cx="5669280" cy="3543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3C"/>
                </a:solidFill>
                <a:latin typeface="Arial"/>
              </a:rPr>
              <a:t>WHY KRAKOPOLIS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Simple on the surface.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Analytical underneath.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1106424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50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3C"/>
                </a:solidFill>
                <a:latin typeface="Arial"/>
              </a:rPr>
              <a:t>CITY-BUILDER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Arial"/>
              </a:rPr>
              <a:t>Intuitive. Fast. Playable.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106424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478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3C"/>
                </a:solidFill>
                <a:latin typeface="Arial"/>
              </a:rPr>
              <a:t>LOCATION-BASED 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Arial"/>
              </a:rPr>
              <a:t>Real Kraków OSM · live transit where 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80560"/>
            <a:ext cx="11064240" cy="960120"/>
          </a:xfrm>
          <a:prstGeom prst="rect">
            <a:avLst/>
          </a:prstGeom>
          <a:solidFill>
            <a:srgbClr val="1A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3C"/>
                </a:solidFill>
                <a:latin typeface="Arial"/>
              </a:rPr>
              <a:t>CONSEQUENCE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Arial"/>
              </a:rPr>
              <a:t>Preview → confirm → observe · OBSERVED vs SIMULATED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2F4F7"/>
                </a:solidFill>
                <a:latin typeface="Arial"/>
              </a:rPr>
              <a:t>KRAKOPOLIS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F2F4F7"/>
                </a:solidFill>
                <a:latin typeface="Arial"/>
              </a:rPr>
              <a:t>Build the city.</a:t>
            </a:r>
          </a:p>
          <a:p>
            <a:pPr algn="l">
              <a:spcAft>
                <a:spcPts val="800"/>
              </a:spcAft>
            </a:pPr>
            <a:r>
              <a:rPr sz="2600" b="0">
                <a:solidFill>
                  <a:srgbClr val="F2F4F7"/>
                </a:solidFill>
                <a:latin typeface="Arial"/>
              </a:rPr>
              <a:t>Test the decision.</a:t>
            </a:r>
          </a:p>
          <a:p>
            <a:pPr algn="l">
              <a:spcAft>
                <a:spcPts val="800"/>
              </a:spcAft>
            </a:pPr>
            <a:r>
              <a:rPr sz="2600" b="0">
                <a:solidFill>
                  <a:srgbClr val="E86A3C"/>
                </a:solidFill>
                <a:latin typeface="Arial"/>
              </a:rPr>
              <a:t>See the consequences.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4F7"/>
                </a:solidFill>
                <a:latin typeface="Arial"/>
              </a:rPr>
              <a:t>https://krakopolis.pages.dev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F"/>
                </a:solidFill>
                <a:latin typeface="Arial"/>
              </a:rPr>
              <a:t>HackYeah 2026  ·  Smart City</a:t>
            </a:r>
          </a:p>
        </p:txBody>
      </p:sp>
      <p:pic>
        <p:nvPicPr>
          <p:cNvPr id="6" name="Picture 5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011680"/>
            <a:ext cx="20116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3AF"/>
                </a:solidFill>
                <a:latin typeface="Arial"/>
              </a:rPr>
              <a:t>Try 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3AF"/>
                </a:solidFill>
                <a:latin typeface="Arial"/>
              </a:rPr>
              <a:t>KRAKOPOLIS  ·  HackYeah 2026  ·  Smart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