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1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274320"/>
            <a:ext cx="12191695" cy="7632509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4434840"/>
            <a:ext cx="12191695" cy="2423160"/>
          </a:xfrm>
          <a:prstGeom prst="rect">
            <a:avLst/>
          </a:prstGeom>
          <a:solidFill>
            <a:srgbClr val="0B0D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4617720"/>
            <a:ext cx="91440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2F4F7"/>
                </a:solidFill>
                <a:latin typeface="Arial"/>
              </a:rPr>
              <a:t>KRAKOPOLIS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525780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86A3C"/>
                </a:solidFill>
                <a:latin typeface="Arial"/>
              </a:rPr>
              <a:t>Build the city.  Test the decision.  See the consequences.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3AF"/>
                </a:solidFill>
                <a:latin typeface="Arial"/>
              </a:rPr>
              <a:t>KRAKOPOLIS  ·  HackYeah 2026  ·  Smart 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3AF"/>
                </a:solidFill>
                <a:latin typeface="Arial"/>
              </a:rPr>
              <a:t>1/10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3C"/>
                </a:solidFill>
                <a:latin typeface="Arial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2F4F7"/>
                </a:solidFill>
                <a:latin typeface="Arial"/>
              </a:rPr>
              <a:t>Cities are complex systems.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173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9AA3AF"/>
                </a:solidFill>
                <a:latin typeface="Arial"/>
              </a:rPr>
              <a:t>People see one decision — not the chain of consequences.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468880"/>
            <a:ext cx="1737360" cy="228600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29718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Arial"/>
              </a:rPr>
              <a:t>NEW ESTATE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233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AA3AF"/>
                </a:solidFill>
                <a:latin typeface="Arial"/>
              </a:rPr>
              <a:t>MODEL 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2468880"/>
            <a:ext cx="1737360" cy="228600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29718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Arial"/>
              </a:rPr>
              <a:t>+420 res.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468880" y="40233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AA3AF"/>
                </a:solidFill>
                <a:latin typeface="Arial"/>
              </a:rPr>
              <a:t>≈10× highrise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60" y="2468880"/>
            <a:ext cx="1737360" cy="228600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9718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Arial"/>
              </a:rPr>
              <a:t>MORE TRAFFIC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0233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AA3AF"/>
                </a:solidFill>
                <a:latin typeface="Arial"/>
              </a:rPr>
              <a:t>local load ↑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468880"/>
            <a:ext cx="1737360" cy="228600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9718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Arial"/>
              </a:rPr>
              <a:t>JUNCTION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0233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AA3AF"/>
                </a:solidFill>
                <a:latin typeface="Arial"/>
              </a:rPr>
              <a:t>overload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01000" y="2468880"/>
            <a:ext cx="1737360" cy="228600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92440" y="29718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Arial"/>
              </a:rPr>
              <a:t>LONGER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92440" y="40233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AA3AF"/>
                </a:solidFill>
                <a:latin typeface="Arial"/>
              </a:rPr>
              <a:t>travel time 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875520" y="2468880"/>
            <a:ext cx="1737360" cy="228600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966960" y="2971800"/>
            <a:ext cx="1554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F2F4F7"/>
                </a:solidFill>
                <a:latin typeface="Arial"/>
              </a:rPr>
              <a:t>INFRA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4023360"/>
            <a:ext cx="1554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AA3AF"/>
                </a:solidFill>
                <a:latin typeface="Arial"/>
              </a:rPr>
              <a:t>schools · transit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5074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9AA3AF"/>
                </a:solidFill>
                <a:latin typeface="Arial"/>
              </a:rPr>
              <a:t>Estate scenario = MODEL ESTIMATE from catalog units (1 highrise = +44). Not an official Kraków forecast.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3AF"/>
                </a:solidFill>
                <a:latin typeface="Arial"/>
              </a:rPr>
              <a:t>KRAKOPOLIS  ·  HackYeah 2026  ·  Smart City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3AF"/>
                </a:solidFill>
                <a:latin typeface="Arial"/>
              </a:rPr>
              <a:t>2/10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3C"/>
                </a:solidFill>
                <a:latin typeface="Arial"/>
              </a:rPr>
              <a:t>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772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2F4F7"/>
                </a:solidFill>
                <a:latin typeface="Arial"/>
              </a:rPr>
              <a:t>Turn urban decisions into experiments.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011680"/>
            <a:ext cx="2651760" cy="256032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3C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346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2F4F7"/>
                </a:solidFill>
                <a:latin typeface="Arial"/>
              </a:rPr>
              <a:t>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4747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3AF"/>
                </a:solidFill>
                <a:latin typeface="Arial"/>
              </a:rPr>
              <a:t>Place a change</a:t>
            </a:r>
          </a:p>
        </p:txBody>
      </p:sp>
      <p:sp>
        <p:nvSpPr>
          <p:cNvPr id="8" name="Rectangle 7"/>
          <p:cNvSpPr/>
          <p:nvPr/>
        </p:nvSpPr>
        <p:spPr>
          <a:xfrm>
            <a:off x="3383280" y="2011680"/>
            <a:ext cx="2651760" cy="256032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2860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3C"/>
                </a:solidFill>
                <a:latin typeface="Arial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8346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2F4F7"/>
                </a:solidFill>
                <a:latin typeface="Arial"/>
              </a:rPr>
              <a:t>SIMULATE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34747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3AF"/>
                </a:solidFill>
                <a:latin typeface="Arial"/>
              </a:rPr>
              <a:t>Run the 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2011680"/>
            <a:ext cx="2651760" cy="256032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2860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3C"/>
                </a:solidFill>
                <a:latin typeface="Arial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8346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2F4F7"/>
                </a:solidFill>
                <a:latin typeface="Arial"/>
              </a:rPr>
              <a:t>OBSERVE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4747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3AF"/>
                </a:solidFill>
                <a:latin typeface="Arial"/>
              </a:rPr>
              <a:t>Read impacts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52560" y="2011680"/>
            <a:ext cx="2651760" cy="256032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81160" y="2286000"/>
            <a:ext cx="2194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3C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81160" y="283464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2F4F7"/>
                </a:solidFill>
                <a:latin typeface="Arial"/>
              </a:rPr>
              <a:t>DECIDE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81160" y="3474720"/>
            <a:ext cx="21945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9AA3AF"/>
                </a:solidFill>
                <a:latin typeface="Arial"/>
              </a:rPr>
              <a:t>Commit or undo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9834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2F4F7"/>
                </a:solidFill>
                <a:latin typeface="Arial"/>
              </a:rPr>
              <a:t>Krakopolis: city-builder UX on real Kraków OSM — consequence engine underneath.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3AF"/>
                </a:solidFill>
                <a:latin typeface="Arial"/>
              </a:rPr>
              <a:t>KRAKOPOLIS  ·  HackYeah 2026  ·  Smart City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3AF"/>
                </a:solidFill>
                <a:latin typeface="Arial"/>
              </a:rPr>
              <a:t>3/10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3C"/>
                </a:solidFill>
                <a:latin typeface="Arial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4008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F2F4F7"/>
                </a:solidFill>
                <a:latin typeface="Arial"/>
              </a:rPr>
              <a:t>Decision → Simulation</a:t>
            </a:r>
          </a:p>
          <a:p>
            <a:pPr algn="l">
              <a:spcAft>
                <a:spcPts val="400"/>
              </a:spcAft>
            </a:pPr>
            <a:r>
              <a:rPr sz="2800" b="1">
                <a:solidFill>
                  <a:srgbClr val="F2F4F7"/>
                </a:solidFill>
                <a:latin typeface="Arial"/>
              </a:rPr>
              <a:t>→ Consequences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45720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 b="0">
                <a:solidFill>
                  <a:srgbClr val="F2F4F7"/>
                </a:solidFill>
                <a:latin typeface="Arial"/>
              </a:rPr>
              <a:t>1  Choose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F2F4F7"/>
                </a:solidFill>
                <a:latin typeface="Arial"/>
              </a:rPr>
              <a:t>2  Preview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F2F4F7"/>
                </a:solidFill>
                <a:latin typeface="Arial"/>
              </a:rPr>
              <a:t>3  Press Enter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F2F4F7"/>
                </a:solidFill>
                <a:latin typeface="Arial"/>
              </a:rPr>
              <a:t>4  Approve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F2F4F7"/>
                </a:solidFill>
                <a:latin typeface="Arial"/>
              </a:rPr>
              <a:t>5  Simulate</a:t>
            </a:r>
          </a:p>
          <a:p>
            <a:pPr algn="l">
              <a:spcAft>
                <a:spcPts val="800"/>
              </a:spcAft>
            </a:pPr>
            <a:r>
              <a:rPr sz="2000" b="0">
                <a:solidFill>
                  <a:srgbClr val="F2F4F7"/>
                </a:solidFill>
                <a:latin typeface="Arial"/>
              </a:rPr>
              <a:t>6  Observe</a:t>
            </a:r>
          </a:p>
        </p:txBody>
      </p:sp>
      <p:pic>
        <p:nvPicPr>
          <p:cNvPr id="5" name="Picture 4" descr="s4-buil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457200"/>
            <a:ext cx="6309360" cy="39499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3AF"/>
                </a:solidFill>
                <a:latin typeface="Arial"/>
              </a:rPr>
              <a:t>KRAKOPOLIS  ·  HackYeah 2026  ·  Smart City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3AF"/>
                </a:solidFill>
                <a:latin typeface="Arial"/>
              </a:rPr>
              <a:t>4/10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3C"/>
                </a:solidFill>
                <a:latin typeface="Arial"/>
              </a:rPr>
              <a:t>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02920"/>
            <a:ext cx="50292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F2F4F7"/>
                </a:solidFill>
                <a:latin typeface="Arial"/>
              </a:rPr>
              <a:t>One decision.</a:t>
            </a:r>
          </a:p>
          <a:p>
            <a:pPr algn="l">
              <a:spcAft>
                <a:spcPts val="200"/>
              </a:spcAft>
            </a:pPr>
            <a:r>
              <a:rPr sz="3000" b="1">
                <a:solidFill>
                  <a:srgbClr val="F2F4F7"/>
                </a:solidFill>
                <a:latin typeface="Arial"/>
              </a:rPr>
              <a:t>Visible consequences.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48840"/>
            <a:ext cx="2286000" cy="137160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377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6A3C"/>
                </a:solidFill>
                <a:latin typeface="Arial"/>
              </a:rPr>
              <a:t>+44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346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4F7"/>
                </a:solidFill>
                <a:latin typeface="Arial"/>
              </a:rPr>
              <a:t>residents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546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3AF"/>
                </a:solidFill>
                <a:latin typeface="Arial"/>
              </a:rPr>
              <a:t>catalog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0" y="2148840"/>
            <a:ext cx="2286000" cy="137160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63240" y="237744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6A3C"/>
                </a:solidFill>
                <a:latin typeface="Arial"/>
              </a:rPr>
              <a:t>↑ traffic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8346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4F7"/>
                </a:solidFill>
                <a:latin typeface="Arial"/>
              </a:rPr>
              <a:t>local load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63240" y="31546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3AF"/>
                </a:solidFill>
                <a:latin typeface="Arial"/>
              </a:rPr>
              <a:t>SIMULATED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703320"/>
            <a:ext cx="2286000" cy="137160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9319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6A3C"/>
                </a:solidFill>
                <a:latin typeface="Arial"/>
              </a:rPr>
              <a:t>schools 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43891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4F7"/>
                </a:solidFill>
                <a:latin typeface="Arial"/>
              </a:rPr>
              <a:t>demand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7091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3AF"/>
                </a:solidFill>
                <a:latin typeface="Arial"/>
              </a:rPr>
              <a:t>MODEL EST.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3703320"/>
            <a:ext cx="2286000" cy="137160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63240" y="39319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86A3C"/>
                </a:solidFill>
                <a:latin typeface="Arial"/>
              </a:rPr>
              <a:t>9.8 mln zł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43891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2F4F7"/>
                </a:solidFill>
                <a:latin typeface="Arial"/>
              </a:rPr>
              <a:t>budget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63240" y="470916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3AF"/>
                </a:solidFill>
                <a:latin typeface="Arial"/>
              </a:rPr>
              <a:t>SIMULATED</a:t>
            </a:r>
          </a:p>
        </p:txBody>
      </p:sp>
      <p:pic>
        <p:nvPicPr>
          <p:cNvPr id="20" name="Picture 19" descr="s5-consequenc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457200"/>
            <a:ext cx="6217920" cy="388620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62356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3AF"/>
                </a:solidFill>
                <a:latin typeface="Arial"/>
              </a:rPr>
              <a:t>Catalog example: Wysoki blok — labels are SIMULATED / MODEL ESTIMATE.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3AF"/>
                </a:solidFill>
                <a:latin typeface="Arial"/>
              </a:rPr>
              <a:t>KRAKOPOLIS  ·  HackYeah 2026  ·  Smart City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3AF"/>
                </a:solidFill>
                <a:latin typeface="Arial"/>
              </a:rPr>
              <a:t>5/10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8288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3C"/>
                </a:solidFill>
                <a:latin typeface="Arial"/>
              </a:rPr>
              <a:t>DISASTERS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F2F4F7"/>
                </a:solidFill>
                <a:latin typeface="Arial"/>
              </a:rPr>
              <a:t>Disasters are events,</a:t>
            </a:r>
          </a:p>
          <a:p>
            <a:pPr algn="l">
              <a:spcAft>
                <a:spcPts val="200"/>
              </a:spcAft>
            </a:pPr>
            <a:r>
              <a:rPr sz="2800" b="1">
                <a:solidFill>
                  <a:srgbClr val="F2F4F7"/>
                </a:solidFill>
                <a:latin typeface="Arial"/>
              </a:rPr>
              <a:t>not animations.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600200"/>
            <a:ext cx="1325880" cy="137160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84632" y="17373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3C"/>
                </a:solidFill>
                <a:latin typeface="Arial"/>
              </a:rPr>
              <a:t>EVENT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" y="214884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3AF"/>
                </a:solidFill>
                <a:latin typeface="Arial"/>
              </a:rPr>
              <a:t>Fire / flood point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600200"/>
            <a:ext cx="1325880" cy="137160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01952" y="17373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3C"/>
                </a:solidFill>
                <a:latin typeface="Arial"/>
              </a:rPr>
              <a:t>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01952" y="214884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3AF"/>
                </a:solidFill>
                <a:latin typeface="Arial"/>
              </a:rPr>
              <a:t>Roads · metrics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600200"/>
            <a:ext cx="1325880" cy="137160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19272" y="17373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3C"/>
                </a:solidFill>
                <a:latin typeface="Arial"/>
              </a:rPr>
              <a:t>RESPONSE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272" y="214884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3AF"/>
                </a:solidFill>
                <a:latin typeface="Arial"/>
              </a:rPr>
              <a:t>City state updates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600200"/>
            <a:ext cx="1325880" cy="137160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36592" y="1737360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86A3C"/>
                </a:solidFill>
                <a:latin typeface="Arial"/>
              </a:rPr>
              <a:t>RECOVERY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36592" y="2148840"/>
            <a:ext cx="1188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3AF"/>
                </a:solidFill>
                <a:latin typeface="Arial"/>
              </a:rPr>
              <a:t>Your next moves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246120"/>
            <a:ext cx="54864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E86A3C"/>
                </a:solidFill>
                <a:latin typeface="Arial"/>
              </a:rPr>
              <a:t>LIVE CAPTURE · FIRE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F2F4F7"/>
                </a:solidFill>
                <a:latin typeface="Arial"/>
              </a:rPr>
              <a:t>“Wykryto pożar.” on the map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F2F4F7"/>
                </a:solidFill>
                <a:latin typeface="Arial"/>
              </a:rPr>
              <a:t>SIMULATED road &amp; metric impact</a:t>
            </a:r>
          </a:p>
          <a:p>
            <a:pPr algn="l">
              <a:spcAft>
                <a:spcPts val="800"/>
              </a:spcAft>
            </a:pPr>
            <a:r>
              <a:rPr sz="1300" b="0">
                <a:solidFill>
                  <a:srgbClr val="9AA3AF"/>
                </a:solidFill>
                <a:latin typeface="Arial"/>
              </a:rPr>
              <a:t>People-in-radius = MODEL ESTIMATE (low confidence)</a:t>
            </a:r>
          </a:p>
        </p:txBody>
      </p:sp>
      <p:pic>
        <p:nvPicPr>
          <p:cNvPr id="17" name="Picture 16" descr="s6-fi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320040"/>
            <a:ext cx="5669280" cy="354920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3AF"/>
                </a:solidFill>
                <a:latin typeface="Arial"/>
              </a:rPr>
              <a:t>KRAKOPOLIS  ·  HackYeah 2026  ·  Smart City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3AF"/>
                </a:solidFill>
                <a:latin typeface="Arial"/>
              </a:rPr>
              <a:t>6/10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3C"/>
                </a:solidFill>
                <a:latin typeface="Arial"/>
              </a:rPr>
              <a:t>WHAT 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48640"/>
            <a:ext cx="5486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2F4F7"/>
                </a:solidFill>
                <a:latin typeface="Arial"/>
              </a:rPr>
              <a:t>What happens next?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371600"/>
            <a:ext cx="1325880" cy="123444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554480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7"/>
                </a:solidFill>
                <a:latin typeface="Arial"/>
              </a:rPr>
              <a:t>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965960"/>
            <a:ext cx="1143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3AF"/>
                </a:solidFill>
                <a:latin typeface="Arial"/>
              </a:rPr>
              <a:t>Immediate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1828800" y="1371600"/>
            <a:ext cx="1325880" cy="123444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20240" y="1554480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7"/>
                </a:solidFill>
                <a:latin typeface="Arial"/>
              </a:rPr>
              <a:t>SHORT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1965960"/>
            <a:ext cx="1143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3AF"/>
                </a:solidFill>
                <a:latin typeface="Arial"/>
              </a:rPr>
              <a:t>Pressure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371600"/>
            <a:ext cx="1325880" cy="123444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37560" y="1554480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7"/>
                </a:solidFill>
                <a:latin typeface="Arial"/>
              </a:rPr>
              <a:t>COMPARE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37560" y="1965960"/>
            <a:ext cx="1143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3AF"/>
                </a:solidFill>
                <a:latin typeface="Arial"/>
              </a:rPr>
              <a:t>Alt. path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63440" y="1371600"/>
            <a:ext cx="1325880" cy="123444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0" y="1554480"/>
            <a:ext cx="1143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2F4F7"/>
                </a:solidFill>
                <a:latin typeface="Arial"/>
              </a:rPr>
              <a:t>DECIDE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54880" y="1965960"/>
            <a:ext cx="1143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9AA3AF"/>
                </a:solidFill>
                <a:latin typeface="Arial"/>
              </a:rPr>
              <a:t>Commit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292608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2F4F7"/>
                </a:solidFill>
                <a:latin typeface="Arial"/>
              </a:rPr>
              <a:t>Analysis layers: traffic, access, risk.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F2F4F7"/>
                </a:solidFill>
                <a:latin typeface="Arial"/>
              </a:rPr>
              <a:t>All marked as szacunek / MODEL ESTIMATE.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11480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E86A3C"/>
                </a:solidFill>
                <a:latin typeface="Arial"/>
              </a:rPr>
              <a:t>What if we close a street?</a:t>
            </a:r>
          </a:p>
          <a:p>
            <a:pPr algn="l">
              <a:spcAft>
                <a:spcPts val="400"/>
              </a:spcAft>
            </a:pPr>
            <a:r>
              <a:rPr sz="1800" b="1">
                <a:solidFill>
                  <a:srgbClr val="E86A3C"/>
                </a:solidFill>
                <a:latin typeface="Arial"/>
              </a:rPr>
              <a:t>What if we build elsewhere?</a:t>
            </a:r>
          </a:p>
        </p:txBody>
      </p:sp>
      <p:pic>
        <p:nvPicPr>
          <p:cNvPr id="18" name="Picture 17" descr="s7-analysi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365760"/>
            <a:ext cx="5669280" cy="35433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3AF"/>
                </a:solidFill>
                <a:latin typeface="Arial"/>
              </a:rPr>
              <a:t>KRAKOPOLIS  ·  HackYeah 2026  ·  Smart City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3AF"/>
                </a:solidFill>
                <a:latin typeface="Arial"/>
              </a:rPr>
              <a:t>7/10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286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3C"/>
                </a:solidFill>
                <a:latin typeface="Arial"/>
              </a:rPr>
              <a:t>CITY MEMORY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502920"/>
            <a:ext cx="5486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200" b="1">
                <a:solidFill>
                  <a:srgbClr val="F2F4F7"/>
                </a:solidFill>
                <a:latin typeface="Arial"/>
              </a:rPr>
              <a:t>Every decision</a:t>
            </a:r>
          </a:p>
          <a:p>
            <a:pPr algn="l">
              <a:spcAft>
                <a:spcPts val="200"/>
              </a:spcAft>
            </a:pPr>
            <a:r>
              <a:rPr sz="3200" b="1">
                <a:solidFill>
                  <a:srgbClr val="F2F4F7"/>
                </a:solidFill>
                <a:latin typeface="Arial"/>
              </a:rPr>
              <a:t>leaves a trace.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1828800"/>
            <a:ext cx="1143000" cy="96012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2057400"/>
            <a:ext cx="1143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2F4F7"/>
                </a:solidFill>
                <a:latin typeface="Arial"/>
              </a:rPr>
              <a:t>v1</a:t>
            </a:r>
          </a:p>
        </p:txBody>
      </p:sp>
      <p:sp>
        <p:nvSpPr>
          <p:cNvPr id="6" name="Rectangle 5"/>
          <p:cNvSpPr/>
          <p:nvPr/>
        </p:nvSpPr>
        <p:spPr>
          <a:xfrm>
            <a:off x="1691640" y="1828800"/>
            <a:ext cx="1143000" cy="96012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1640" y="2057400"/>
            <a:ext cx="1143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2F4F7"/>
                </a:solidFill>
                <a:latin typeface="Arial"/>
              </a:rPr>
              <a:t>v2</a:t>
            </a:r>
          </a:p>
        </p:txBody>
      </p:sp>
      <p:sp>
        <p:nvSpPr>
          <p:cNvPr id="8" name="Rectangle 7"/>
          <p:cNvSpPr/>
          <p:nvPr/>
        </p:nvSpPr>
        <p:spPr>
          <a:xfrm>
            <a:off x="2971800" y="1828800"/>
            <a:ext cx="1143000" cy="96012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971800" y="2057400"/>
            <a:ext cx="1143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F2F4F7"/>
                </a:solidFill>
                <a:latin typeface="Arial"/>
              </a:rPr>
              <a:t>v3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51960" y="1828800"/>
            <a:ext cx="1143000" cy="960120"/>
          </a:xfrm>
          <a:prstGeom prst="rect">
            <a:avLst/>
          </a:prstGeom>
          <a:solidFill>
            <a:srgbClr val="2A22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51960" y="2057400"/>
            <a:ext cx="1143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E86A3C"/>
                </a:solidFill>
                <a:latin typeface="Arial"/>
              </a:rPr>
              <a:t>v4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3108960"/>
            <a:ext cx="53035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Compare versions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Restore earlier state</a:t>
            </a:r>
          </a:p>
          <a:p>
            <a:pPr algn="l">
              <a:spcAft>
                <a:spcPts val="800"/>
              </a:spcAft>
            </a:pPr>
            <a:r>
              <a:rPr sz="1800" b="0">
                <a:solidFill>
                  <a:srgbClr val="F2F4F7"/>
                </a:solidFill>
                <a:latin typeface="Arial"/>
              </a:rPr>
              <a:t>Undo / redo — history persists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9AA3AF"/>
                </a:solidFill>
                <a:latin typeface="Arial"/>
              </a:rPr>
              <a:t>Persistent city state, not a one-shot viz.</a:t>
            </a:r>
          </a:p>
        </p:txBody>
      </p:sp>
      <p:pic>
        <p:nvPicPr>
          <p:cNvPr id="13" name="Picture 12" descr="s8-history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365760"/>
            <a:ext cx="5669280" cy="35433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3AF"/>
                </a:solidFill>
                <a:latin typeface="Arial"/>
              </a:rPr>
              <a:t>KRAKOPOLIS  ·  HackYeah 2026  ·  Smart City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3AF"/>
                </a:solidFill>
                <a:latin typeface="Arial"/>
              </a:rPr>
              <a:t>8/10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86A3C"/>
                </a:solidFill>
                <a:latin typeface="Arial"/>
              </a:rPr>
              <a:t>WHY KRAKOPOLIS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109728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2F4F7"/>
                </a:solidFill>
                <a:latin typeface="Arial"/>
              </a:rPr>
              <a:t>Simple on the surface.</a:t>
            </a:r>
          </a:p>
          <a:p>
            <a:pPr algn="l">
              <a:spcAft>
                <a:spcPts val="200"/>
              </a:spcAft>
            </a:pPr>
            <a:r>
              <a:rPr sz="3600" b="1">
                <a:solidFill>
                  <a:srgbClr val="F2F4F7"/>
                </a:solidFill>
                <a:latin typeface="Arial"/>
              </a:rPr>
              <a:t>Analytical underneath.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2286000"/>
            <a:ext cx="11064240" cy="96012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45059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6A3C"/>
                </a:solidFill>
                <a:latin typeface="Arial"/>
              </a:rPr>
              <a:t>CITY-BUILDER 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8892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Arial"/>
              </a:rPr>
              <a:t>Intuitive. Fast. Playable.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3383280"/>
            <a:ext cx="11064240" cy="96012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354787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6A3C"/>
                </a:solidFill>
                <a:latin typeface="Arial"/>
              </a:rPr>
              <a:t>LOCATION-BASED 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88620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Arial"/>
              </a:rPr>
              <a:t>Real Kraków OSM · live transit where available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4480560"/>
            <a:ext cx="11064240" cy="960120"/>
          </a:xfrm>
          <a:prstGeom prst="rect">
            <a:avLst/>
          </a:prstGeom>
          <a:solidFill>
            <a:srgbClr val="1A1E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4645152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86A3C"/>
                </a:solidFill>
                <a:latin typeface="Arial"/>
              </a:rPr>
              <a:t>CONSEQUENCE ENGINE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83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F2F4F7"/>
                </a:solidFill>
                <a:latin typeface="Arial"/>
              </a:rPr>
              <a:t>Preview → confirm → observe · OBSERVED vs SIMULATED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3AF"/>
                </a:solidFill>
                <a:latin typeface="Arial"/>
              </a:rPr>
              <a:t>KRAKOPOLIS  ·  HackYeah 2026  ·  Smart City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3AF"/>
                </a:solidFill>
                <a:latin typeface="Arial"/>
              </a:rPr>
              <a:t>9/10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463040"/>
            <a:ext cx="7772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>
                <a:solidFill>
                  <a:srgbClr val="F2F4F7"/>
                </a:solidFill>
                <a:latin typeface="Arial"/>
              </a:rPr>
              <a:t>KRAKOPOLIS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331720"/>
            <a:ext cx="7772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600" b="0">
                <a:solidFill>
                  <a:srgbClr val="F2F4F7"/>
                </a:solidFill>
                <a:latin typeface="Arial"/>
              </a:rPr>
              <a:t>Build the city.</a:t>
            </a:r>
          </a:p>
          <a:p>
            <a:pPr algn="l">
              <a:spcAft>
                <a:spcPts val="800"/>
              </a:spcAft>
            </a:pPr>
            <a:r>
              <a:rPr sz="2600" b="0">
                <a:solidFill>
                  <a:srgbClr val="F2F4F7"/>
                </a:solidFill>
                <a:latin typeface="Arial"/>
              </a:rPr>
              <a:t>Test the decision.</a:t>
            </a:r>
          </a:p>
          <a:p>
            <a:pPr algn="l">
              <a:spcAft>
                <a:spcPts val="800"/>
              </a:spcAft>
            </a:pPr>
            <a:r>
              <a:rPr sz="2600" b="0">
                <a:solidFill>
                  <a:srgbClr val="E86A3C"/>
                </a:solidFill>
                <a:latin typeface="Arial"/>
              </a:rPr>
              <a:t>See the consequences.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976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2F4F7"/>
                </a:solidFill>
                <a:latin typeface="Arial"/>
              </a:rPr>
              <a:t>https://krakopolis.pages.dev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8006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9AA3AF"/>
                </a:solidFill>
                <a:latin typeface="Arial"/>
              </a:rPr>
              <a:t>HackYeah 2026  ·  Smart City</a:t>
            </a:r>
          </a:p>
        </p:txBody>
      </p:sp>
      <p:pic>
        <p:nvPicPr>
          <p:cNvPr id="6" name="Picture 5" descr="qr-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2011680"/>
            <a:ext cx="2011680" cy="20116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416052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AA3AF"/>
                </a:solidFill>
                <a:latin typeface="Arial"/>
              </a:rPr>
              <a:t>Try the demo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9AA3AF"/>
                </a:solidFill>
                <a:latin typeface="Arial"/>
              </a:rPr>
              <a:t>KRAKOPOLIS  ·  HackYeah 2026  ·  Smart City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465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9AA3AF"/>
                </a:solidFill>
                <a:latin typeface="Arial"/>
              </a:rPr>
              <a:t>10/10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