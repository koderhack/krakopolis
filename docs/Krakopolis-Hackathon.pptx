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64592" cy="2926080"/>
          </a:xfrm>
          <a:prstGeom prst="rect">
            <a:avLst/>
          </a:prstGeom>
          <a:solidFill>
            <a:srgbClr val="3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EEF2F6"/>
                </a:solidFill>
                <a:latin typeface="Calibri"/>
              </a:rPr>
              <a:t>KRAKOPOLIS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9AA7B5"/>
                </a:solidFill>
                <a:latin typeface="Calibri"/>
              </a:rPr>
              <a:t>3D city lab for Kraków — real OSM + ZTP data, simulated consequences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DB8A0"/>
                </a:solidFill>
                <a:latin typeface="Calibri"/>
              </a:rPr>
              <a:t>https://krakopolis.pages.dev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AA7B5"/>
                </a:solidFill>
                <a:latin typeface="Calibri"/>
              </a:rPr>
              <a:t>Hackathon pitch  ·  Cloudflare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EF2F6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7B5"/>
                </a:solidFill>
                <a:latin typeface="Calibri"/>
              </a:rPr>
              <a:t>Krakopolis · https://krakopolis.pages.dev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EEF2F6"/>
                </a:solidFill>
                <a:latin typeface="Calibri"/>
              </a:rPr>
              <a:t>•  Urban decisions are hard to explain without a shared spatial model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EF2F6"/>
                </a:solidFill>
                <a:latin typeface="Calibri"/>
              </a:rPr>
              <a:t>•  Open city data (OSM, GTFS/GTFS-RT) stays in silos — not playable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EF2F6"/>
                </a:solidFill>
                <a:latin typeface="Calibri"/>
              </a:rPr>
              <a:t>•  Most sims invent traffic; Kraków has no open road-volume API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EF2F6"/>
                </a:solidFill>
                <a:latin typeface="Calibri"/>
              </a:rPr>
              <a:t>•  Need OBSERVED vs SIMULATED made explicit — no fake AI certainty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EF2F6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7B5"/>
                </a:solidFill>
                <a:latin typeface="Calibri"/>
              </a:rPr>
              <a:t>Krakopolis · https://krakopolis.pages.dev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EEF2F6"/>
                </a:solidFill>
                <a:latin typeface="Calibri"/>
              </a:rPr>
              <a:t>•  Interactive 3D Kraków (Old Town / Kazimierz / Wawel) in the browser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EEF2F6"/>
                </a:solidFill>
                <a:latin typeface="Calibri"/>
              </a:rPr>
              <a:t>•  Build, analyze, run events — consequence reports before commit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EEF2F6"/>
                </a:solidFill>
                <a:latin typeface="Calibri"/>
              </a:rPr>
              <a:t>•  Live MPK vehicles from ZTP GTFS-RT; roads &amp; buildings from OSM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EEF2F6"/>
                </a:solidFill>
                <a:latin typeface="Calibri"/>
              </a:rPr>
              <a:t>•  Every metric tagged: OBSERVED · PREDICTED · SIMULATED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EEF2F6"/>
                </a:solidFill>
                <a:latin typeface="Calibri"/>
              </a:rPr>
              <a:t>•  Version history (IndexedDB) — undo / compare / restore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EF2F6"/>
                </a:solidFill>
                <a:latin typeface="Calibri"/>
              </a:rPr>
              <a:t>Demo /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7B5"/>
                </a:solidFill>
                <a:latin typeface="Calibri"/>
              </a:rPr>
              <a:t>Krakopolis · https://krakopolis.pages.dev</a:t>
            </a:r>
          </a:p>
        </p:txBody>
      </p:sp>
      <p:pic>
        <p:nvPicPr>
          <p:cNvPr id="6" name="Picture 5" descr="01-overview-hu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3703320" cy="2148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3172968"/>
            <a:ext cx="3703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DB8A0"/>
                </a:solidFill>
                <a:latin typeface="Calibri"/>
              </a:rPr>
              <a:t>3D city + HUD</a:t>
            </a:r>
          </a:p>
        </p:txBody>
      </p:sp>
      <p:pic>
        <p:nvPicPr>
          <p:cNvPr id="8" name="Picture 7" descr="02-buduj-katalo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005840"/>
            <a:ext cx="3703320" cy="2148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15968" y="3172968"/>
            <a:ext cx="3703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DB8A0"/>
                </a:solidFill>
                <a:latin typeface="Calibri"/>
              </a:rPr>
              <a:t>Build catalog</a:t>
            </a:r>
          </a:p>
        </p:txBody>
      </p:sp>
      <p:pic>
        <p:nvPicPr>
          <p:cNvPr id="10" name="Picture 9" descr="03-konsekwencje-zatwierdz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005840"/>
            <a:ext cx="3703320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0456" y="3172968"/>
            <a:ext cx="3703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DB8A0"/>
                </a:solidFill>
                <a:latin typeface="Calibri"/>
              </a:rPr>
              <a:t>Consequences</a:t>
            </a:r>
          </a:p>
        </p:txBody>
      </p:sp>
      <p:pic>
        <p:nvPicPr>
          <p:cNvPr id="12" name="Picture 11" descr="04-analiza-warstw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538728"/>
            <a:ext cx="3703320" cy="2148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5705856"/>
            <a:ext cx="3703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DB8A0"/>
                </a:solidFill>
                <a:latin typeface="Calibri"/>
              </a:rPr>
              <a:t>Analysis layers</a:t>
            </a:r>
          </a:p>
        </p:txBody>
      </p:sp>
      <p:pic>
        <p:nvPicPr>
          <p:cNvPr id="14" name="Picture 13" descr="05-historia-wersj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3538728"/>
            <a:ext cx="3703320" cy="2148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15968" y="5705856"/>
            <a:ext cx="3703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DB8A0"/>
                </a:solidFill>
                <a:latin typeface="Calibri"/>
              </a:rPr>
              <a:t>Version history</a:t>
            </a:r>
          </a:p>
        </p:txBody>
      </p:sp>
      <p:pic>
        <p:nvPicPr>
          <p:cNvPr id="16" name="Picture 15" descr="06b-overview-minimap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456" y="3538728"/>
            <a:ext cx="3703320" cy="2148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0456" y="5705856"/>
            <a:ext cx="3703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DB8A0"/>
                </a:solidFill>
                <a:latin typeface="Calibri"/>
              </a:rPr>
              <a:t>Minimap + 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EF2F6"/>
                </a:solidFill>
                <a:latin typeface="Calibri"/>
              </a:rPr>
              <a:t>Data: OBSERVED vs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7B5"/>
                </a:solidFill>
                <a:latin typeface="Calibri"/>
              </a:rPr>
              <a:t>Krakopolis · https://krakopolis.pages.dev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1A222E"/>
          </a:solidFill>
          <a:ln w="12700"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DB8A0"/>
                </a:solidFill>
                <a:latin typeface="Calibri"/>
              </a:rPr>
              <a:t>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EF2F6"/>
                </a:solidFill>
                <a:latin typeface="Calibri"/>
              </a:rPr>
              <a:t>•  OSM roads, buildings, water, parks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EF2F6"/>
                </a:solidFill>
                <a:latin typeface="Calibri"/>
              </a:rPr>
              <a:t>•  ZTP GTFS routes &amp; stops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EF2F6"/>
                </a:solidFill>
                <a:latin typeface="Calibri"/>
              </a:rPr>
              <a:t>•  GTFS-RT vehicle GPS (LIVE)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EF2F6"/>
                </a:solidFill>
                <a:latin typeface="Calibri"/>
              </a:rPr>
              <a:t>•  Congestion_level from ZTP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4300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1A222E"/>
          </a:solidFill>
          <a:ln w="12700"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258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8A83C"/>
                </a:solidFill>
                <a:latin typeface="Calibri"/>
              </a:rPr>
              <a:t>PREDICTED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EF2F6"/>
                </a:solidFill>
                <a:latin typeface="Calibri"/>
              </a:rPr>
              <a:t>•  Traffic reassignment after closure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EF2F6"/>
                </a:solidFill>
                <a:latin typeface="Calibri"/>
              </a:rPr>
              <a:t>•  Derived speeds from positions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EF2F6"/>
                </a:solidFill>
                <a:latin typeface="Calibri"/>
              </a:rPr>
              <a:t>•  Service / school access layers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EF2F6"/>
                </a:solidFill>
                <a:latin typeface="Calibri"/>
              </a:rPr>
              <a:t>•  Always labeled as estimate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4300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1A222E"/>
          </a:solidFill>
          <a:ln w="12700"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258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AA7B5"/>
                </a:solidFill>
                <a:latin typeface="Calibri"/>
              </a:rPr>
              <a:t>SIMULATED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EF2F6"/>
                </a:solidFill>
                <a:latin typeface="Calibri"/>
              </a:rPr>
              <a:t>•  Player buildings &amp; parks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EF2F6"/>
                </a:solidFill>
                <a:latin typeface="Calibri"/>
              </a:rPr>
              <a:t>•  Pedestrian agents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EF2F6"/>
                </a:solidFill>
                <a:latin typeface="Calibri"/>
              </a:rPr>
              <a:t>•  City metrics (smog, noise…)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EF2F6"/>
                </a:solidFill>
                <a:latin typeface="Calibri"/>
              </a:rPr>
              <a:t>•  Never mixed with live feeds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EF2F6"/>
                </a:solidFill>
                <a:latin typeface="Calibri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7B5"/>
                </a:solidFill>
                <a:latin typeface="Calibri"/>
              </a:rPr>
              <a:t>Krakopolis · https://krakopolis.pages.dev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Modes: Build · Analysis · Events · History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Consequence preview → Confirm / Cancel before mutate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Map layers + model overlays (traffic, access, flood risk…)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OSM minimap + View dock (search, metrics, panels)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Live clock, speed, perspective; green rings = real vehicles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Offline ingest pipeline; LIVE refresh for GTFS-RT &amp; weather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EF2F6"/>
                </a:solidFill>
                <a:latin typeface="Calibri"/>
              </a:rPr>
              <a:t>Tech stack + Cloudflare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7B5"/>
                </a:solidFill>
                <a:latin typeface="Calibri"/>
              </a:rPr>
              <a:t>Krakopolis · https://krakopolis.pages.dev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React 18 + TypeScript + Vite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Three.js / React Three Fiber / Drei — instanced city scene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Custom sim engine: road graph, BPR travel time, incremental assignment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Cloudflare Pages deploy (krakopolis.pages.dev)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Proxy-friendly architecture for CORS-limited public feeds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IndexedDB city versioning on the client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EF2F6"/>
                </a:solidFill>
                <a:latin typeface="Calibri"/>
              </a:rPr>
              <a:t>What’s next /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7B5"/>
                </a:solidFill>
                <a:latin typeface="Calibri"/>
              </a:rPr>
              <a:t>Krakopolis · https://krakopolis.pages.dev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Expand bbox + richer ZTP / city open-data connectors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Deeper policy scenarios for planners &amp; civic workshops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Performance pass for denser districts &amp; mobile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Ask: teammates for UX research, data partnerships, storytelling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F2F6"/>
                </a:solidFill>
                <a:latin typeface="Calibri"/>
              </a:rPr>
              <a:t>•  Ask: mentors — validation with Kraków open-data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DB8A0"/>
                </a:solidFill>
                <a:latin typeface="Calibri"/>
              </a:rPr>
              <a:t>Try it →  https://krakopolis.pages.dev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